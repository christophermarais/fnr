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7" d="100"/>
          <a:sy n="67" d="100"/>
        </p:scale>
        <p:origin x="644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61872" y="758952"/>
            <a:ext cx="9418320" cy="4041648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720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61872" y="4800600"/>
            <a:ext cx="9418320" cy="1691640"/>
          </a:xfrm>
        </p:spPr>
        <p:txBody>
          <a:bodyPr>
            <a:normAutofit/>
          </a:bodyPr>
          <a:lstStyle>
            <a:lvl1pPr marL="0" indent="0" algn="l">
              <a:buNone/>
              <a:defRPr sz="2200" spc="30" baseline="0">
                <a:solidFill>
                  <a:schemeClr val="tx1">
                    <a:lumMod val="75000"/>
                  </a:schemeClr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8125EA-92F7-4DB7-9609-EBE44AD29530}" type="datetimeFigureOut">
              <a:rPr lang="en-US" smtClean="0"/>
              <a:t>10/7/2020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0CA92C-C63D-429C-A1FE-3A0B2A700C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640858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8125EA-92F7-4DB7-9609-EBE44AD29530}" type="datetimeFigureOut">
              <a:rPr lang="en-US" smtClean="0"/>
              <a:t>10/7/2020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0CA92C-C63D-429C-A1FE-3A0B2A700C01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0400826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61872" y="758952"/>
            <a:ext cx="9418320" cy="4041648"/>
          </a:xfrm>
        </p:spPr>
        <p:txBody>
          <a:bodyPr anchor="b">
            <a:normAutofit/>
          </a:bodyPr>
          <a:lstStyle>
            <a:lvl1pPr>
              <a:lnSpc>
                <a:spcPct val="85000"/>
              </a:lnSpc>
              <a:defRPr sz="72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4800600"/>
            <a:ext cx="9418320" cy="1691640"/>
          </a:xfrm>
        </p:spPr>
        <p:txBody>
          <a:bodyPr anchor="t">
            <a:normAutofit/>
          </a:bodyPr>
          <a:lstStyle>
            <a:lvl1pPr marL="0" indent="0">
              <a:buNone/>
              <a:defRPr sz="2200" spc="30" baseline="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8125EA-92F7-4DB7-9609-EBE44AD29530}" type="datetimeFigureOut">
              <a:rPr lang="en-US" smtClean="0"/>
              <a:t>10/7/2020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0CA92C-C63D-429C-A1FE-3A0B2A700C01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7709255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61872" y="1828800"/>
            <a:ext cx="4480560" cy="4351337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26480" y="1828800"/>
            <a:ext cx="4480560" cy="4351337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8125EA-92F7-4DB7-9609-EBE44AD29530}" type="datetimeFigureOut">
              <a:rPr lang="en-US" smtClean="0"/>
              <a:t>10/7/2020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0CA92C-C63D-429C-A1FE-3A0B2A700C01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5274328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1713655"/>
            <a:ext cx="4480560" cy="73152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61872" y="2507550"/>
            <a:ext cx="4480560" cy="366465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26480" y="1713655"/>
            <a:ext cx="4480560" cy="731520"/>
          </a:xfrm>
        </p:spPr>
        <p:txBody>
          <a:bodyPr anchor="b">
            <a:normAutofit/>
          </a:bodyPr>
          <a:lstStyle>
            <a:lvl1pPr marL="0" indent="0">
              <a:lnSpc>
                <a:spcPct val="95000"/>
              </a:lnSpc>
              <a:spcBef>
                <a:spcPts val="0"/>
              </a:spcBef>
              <a:buNone/>
              <a:defRPr lang="en-US" sz="2000" b="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2000"/>
              </a:spcBef>
              <a:buFontTx/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26480" y="2507550"/>
            <a:ext cx="4480560" cy="366465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8125EA-92F7-4DB7-9609-EBE44AD29530}" type="datetimeFigureOut">
              <a:rPr lang="en-US" smtClean="0"/>
              <a:t>10/7/2020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0CA92C-C63D-429C-A1FE-3A0B2A700C01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1710403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8125EA-92F7-4DB7-9609-EBE44AD29530}" type="datetimeFigureOut">
              <a:rPr lang="en-US" smtClean="0"/>
              <a:t>10/7/2020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0CA92C-C63D-429C-A1FE-3A0B2A700C01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600460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8125EA-92F7-4DB7-9609-EBE44AD29530}" type="datetimeFigureOut">
              <a:rPr lang="en-US" smtClean="0"/>
              <a:t>10/7/2020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0CA92C-C63D-429C-A1FE-3A0B2A700C01}" type="slidenum">
              <a:rPr lang="en-US" smtClean="0"/>
              <a:t>‹#›</a:t>
            </a:fld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8765888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457200"/>
            <a:ext cx="3200400" cy="1600197"/>
          </a:xfrm>
        </p:spPr>
        <p:txBody>
          <a:bodyPr anchor="b">
            <a:normAutofit/>
          </a:bodyPr>
          <a:lstStyle>
            <a:lvl1pPr>
              <a:defRPr sz="2800" b="1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04267" y="685800"/>
            <a:ext cx="6079066" cy="548640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1248" y="2099734"/>
            <a:ext cx="3200400" cy="3810001"/>
          </a:xfrm>
        </p:spPr>
        <p:txBody>
          <a:bodyPr>
            <a:normAutofit/>
          </a:bodyPr>
          <a:lstStyle>
            <a:lvl1pPr marL="0" indent="0">
              <a:lnSpc>
                <a:spcPct val="114000"/>
              </a:lnSpc>
              <a:spcBef>
                <a:spcPts val="800"/>
              </a:spcBef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8125EA-92F7-4DB7-9609-EBE44AD29530}" type="datetimeFigureOut">
              <a:rPr lang="en-US" smtClean="0"/>
              <a:t>10/7/2020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0CA92C-C63D-429C-A1FE-3A0B2A700C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15733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5105400"/>
            <a:ext cx="11292840" cy="17526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5257800"/>
            <a:ext cx="9982200" cy="914400"/>
          </a:xfrm>
        </p:spPr>
        <p:txBody>
          <a:bodyPr anchor="b">
            <a:normAutofit/>
          </a:bodyPr>
          <a:lstStyle>
            <a:lvl1pPr>
              <a:defRPr sz="2800"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11292840" cy="5128923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400" y="6108589"/>
            <a:ext cx="9982200" cy="597011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800"/>
              </a:spcBef>
              <a:buNone/>
              <a:defRPr sz="1400" baseline="0">
                <a:solidFill>
                  <a:schemeClr val="bg1">
                    <a:lumMod val="7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8125EA-92F7-4DB7-9609-EBE44AD29530}" type="datetimeFigureOut">
              <a:rPr lang="en-US" smtClean="0"/>
              <a:t>10/7/2020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0CA92C-C63D-429C-A1FE-3A0B2A700C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17661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8125EA-92F7-4DB7-9609-EBE44AD29530}" type="datetimeFigureOut">
              <a:rPr lang="en-US" smtClean="0"/>
              <a:t>10/7/2020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0CA92C-C63D-429C-A1FE-3A0B2A700C01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2982451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48700" y="381000"/>
            <a:ext cx="2476500" cy="5897562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62000" y="381000"/>
            <a:ext cx="7734300" cy="589756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8125EA-92F7-4DB7-9609-EBE44AD29530}" type="datetimeFigureOut">
              <a:rPr lang="en-US" smtClean="0"/>
              <a:t>10/7/2020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0CA92C-C63D-429C-A1FE-3A0B2A700C01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0167405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1292840" y="0"/>
            <a:ext cx="9144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61872" y="294198"/>
            <a:ext cx="9692640" cy="1397124"/>
          </a:xfrm>
          <a:prstGeom prst="rect">
            <a:avLst/>
          </a:prstGeom>
        </p:spPr>
        <p:txBody>
          <a:bodyPr vert="horz" lIns="91440" tIns="27432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1828800"/>
            <a:ext cx="8595360" cy="43513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16200000">
            <a:off x="10797542" y="998537"/>
            <a:ext cx="1904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 b="0">
                <a:solidFill>
                  <a:schemeClr val="accent1">
                    <a:lumMod val="40000"/>
                    <a:lumOff val="60000"/>
                  </a:schemeClr>
                </a:solidFill>
              </a:defRPr>
            </a:lvl1pPr>
          </a:lstStyle>
          <a:p>
            <a:fld id="{F58125EA-92F7-4DB7-9609-EBE44AD29530}" type="datetimeFigureOut">
              <a:rPr lang="en-US" smtClean="0"/>
              <a:t>10/7/2020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16200000">
            <a:off x="9959341" y="4046537"/>
            <a:ext cx="3581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accent1">
                    <a:lumMod val="40000"/>
                    <a:lumOff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292840" y="6172200"/>
            <a:ext cx="914400" cy="593725"/>
          </a:xfrm>
          <a:prstGeom prst="rect">
            <a:avLst/>
          </a:prstGeom>
        </p:spPr>
        <p:txBody>
          <a:bodyPr vert="horz" lIns="45720" tIns="45720" rIns="45720" bIns="45720" rtlCol="0" anchor="ctr">
            <a:normAutofit/>
          </a:bodyPr>
          <a:lstStyle>
            <a:lvl1pPr algn="ctr">
              <a:defRPr sz="3600">
                <a:solidFill>
                  <a:schemeClr val="accent1">
                    <a:lumMod val="60000"/>
                    <a:lumOff val="40000"/>
                  </a:schemeClr>
                </a:solidFill>
                <a:latin typeface="+mj-lt"/>
              </a:defRPr>
            </a:lvl1pPr>
          </a:lstStyle>
          <a:p>
            <a:fld id="{690CA92C-C63D-429C-A1FE-3A0B2A700C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84273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 spc="-50" baseline="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5000"/>
        </a:lnSpc>
        <a:spcBef>
          <a:spcPts val="1400"/>
        </a:spcBef>
        <a:spcAft>
          <a:spcPts val="200"/>
        </a:spcAft>
        <a:buClr>
          <a:schemeClr val="accent1"/>
        </a:buClr>
        <a:buSzPct val="80000"/>
        <a:buFont typeface="Arial" pitchFamily="34" charset="0"/>
        <a:buChar char="•"/>
        <a:defRPr sz="2000" kern="1200" spc="10" baseline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6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8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mailto:jdain@ufl.edu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mailto:hulcr@ufl.edu" TargetMode="Externa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mailto:Johnson.daniel@ufl.edu" TargetMode="External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mailto:gklarenberg@ufl.edu" TargetMode="External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11">
            <a:extLst>
              <a:ext uri="{FF2B5EF4-FFF2-40B4-BE49-F238E27FC236}">
                <a16:creationId xmlns:a16="http://schemas.microsoft.com/office/drawing/2014/main" id="{ACA29952-149E-46F7-9A9D-E6101CFF55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292840" y="0"/>
            <a:ext cx="9144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13">
            <a:extLst>
              <a:ext uri="{FF2B5EF4-FFF2-40B4-BE49-F238E27FC236}">
                <a16:creationId xmlns:a16="http://schemas.microsoft.com/office/drawing/2014/main" id="{9024BA92-9229-4333-ACC7-4561A3DB5F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57200" cy="6858000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C5504FB6-98AC-42BF-BC46-9FA791F65E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61872" y="294198"/>
            <a:ext cx="9692640" cy="1105977"/>
          </a:xfrm>
        </p:spPr>
        <p:txBody>
          <a:bodyPr vert="horz" lIns="91440" tIns="27432" rIns="91440" bIns="45720" rtlCol="0" anchor="b">
            <a:normAutofit/>
          </a:bodyPr>
          <a:lstStyle/>
          <a:p>
            <a:r>
              <a:rPr lang="en-US" sz="4400" u="sng" dirty="0"/>
              <a:t>Jonathan Dain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3C9BAED-111C-4B3D-99D1-DFE19A1AD6D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261872" y="1828800"/>
            <a:ext cx="6110478" cy="4351337"/>
          </a:xfrm>
        </p:spPr>
        <p:txBody>
          <a:bodyPr vert="horz" lIns="91440" tIns="45720" rIns="91440" bIns="45720" rtlCol="0">
            <a:normAutofit/>
          </a:bodyPr>
          <a:lstStyle/>
          <a:p>
            <a:pPr marL="342900" indent="-182880">
              <a:buFont typeface="Arial" panose="020B0604020202020204" pitchFamily="34" charset="0"/>
              <a:buChar char="•"/>
            </a:pPr>
            <a:r>
              <a:rPr lang="en-US" sz="2400" dirty="0"/>
              <a:t>Director of the Florida Natural Resources Leadership Institute</a:t>
            </a:r>
            <a:br>
              <a:rPr lang="en-US" sz="2400" dirty="0"/>
            </a:br>
            <a:endParaRPr lang="en-US" sz="2000" dirty="0"/>
          </a:p>
          <a:p>
            <a:pPr marL="342900" indent="-182880">
              <a:buFont typeface="Arial" panose="020B0604020202020204" pitchFamily="34" charset="0"/>
              <a:buChar char="•"/>
            </a:pPr>
            <a:r>
              <a:rPr lang="en-US" sz="2400" dirty="0"/>
              <a:t>Applied anthropologist by training</a:t>
            </a:r>
            <a:br>
              <a:rPr lang="en-US" sz="2400" dirty="0"/>
            </a:br>
            <a:endParaRPr lang="en-US" sz="2400" dirty="0"/>
          </a:p>
          <a:p>
            <a:pPr marL="342900" indent="-182880">
              <a:buFont typeface="Arial" panose="020B0604020202020204" pitchFamily="34" charset="0"/>
              <a:buChar char="•"/>
            </a:pPr>
            <a:r>
              <a:rPr lang="en-US" sz="2400" dirty="0"/>
              <a:t>Certified mediator &amp; Fellow of the Florida Climate Institute</a:t>
            </a:r>
          </a:p>
        </p:txBody>
      </p:sp>
      <p:pic>
        <p:nvPicPr>
          <p:cNvPr id="7" name="Content Placeholder 6" descr="A person wearing glasses and smiling at the camera&#10;&#10;Description automatically generated">
            <a:extLst>
              <a:ext uri="{FF2B5EF4-FFF2-40B4-BE49-F238E27FC236}">
                <a16:creationId xmlns:a16="http://schemas.microsoft.com/office/drawing/2014/main" id="{2971EC9A-F7BF-4207-9167-1FB610FE521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tretch/>
        </p:blipFill>
        <p:spPr>
          <a:xfrm>
            <a:off x="7832979" y="1691322"/>
            <a:ext cx="3304622" cy="33046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44716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11">
            <a:extLst>
              <a:ext uri="{FF2B5EF4-FFF2-40B4-BE49-F238E27FC236}">
                <a16:creationId xmlns:a16="http://schemas.microsoft.com/office/drawing/2014/main" id="{ACA29952-149E-46F7-9A9D-E6101CFF55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292840" y="0"/>
            <a:ext cx="9144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13">
            <a:extLst>
              <a:ext uri="{FF2B5EF4-FFF2-40B4-BE49-F238E27FC236}">
                <a16:creationId xmlns:a16="http://schemas.microsoft.com/office/drawing/2014/main" id="{9024BA92-9229-4333-ACC7-4561A3DB5F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57200" cy="6858000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C5504FB6-98AC-42BF-BC46-9FA791F65E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61872" y="294198"/>
            <a:ext cx="9692640" cy="1105977"/>
          </a:xfrm>
        </p:spPr>
        <p:txBody>
          <a:bodyPr vert="horz" lIns="91440" tIns="27432" rIns="91440" bIns="45720" rtlCol="0" anchor="b">
            <a:normAutofit/>
          </a:bodyPr>
          <a:lstStyle/>
          <a:p>
            <a:r>
              <a:rPr lang="en-US" sz="4400" u="sng" dirty="0"/>
              <a:t>Jonathan Dain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3C9BAED-111C-4B3D-99D1-DFE19A1AD6D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261872" y="1828800"/>
            <a:ext cx="6110478" cy="4351337"/>
          </a:xfrm>
        </p:spPr>
        <p:txBody>
          <a:bodyPr vert="horz" lIns="91440" tIns="45720" rIns="91440" bIns="45720" rtlCol="0">
            <a:normAutofit/>
          </a:bodyPr>
          <a:lstStyle/>
          <a:p>
            <a:pPr marL="160020"/>
            <a:r>
              <a:rPr lang="en-US" sz="2400" dirty="0"/>
              <a:t>Work focuses on:</a:t>
            </a:r>
          </a:p>
          <a:p>
            <a:pPr marL="502920" indent="-342900">
              <a:buFont typeface="Arial" panose="020B0604020202020204" pitchFamily="34" charset="0"/>
              <a:buChar char="•"/>
            </a:pPr>
            <a:r>
              <a:rPr lang="en-US" sz="2200" dirty="0"/>
              <a:t>Increasing collaboration in extension</a:t>
            </a:r>
            <a:br>
              <a:rPr lang="en-US" sz="2200" dirty="0"/>
            </a:br>
            <a:endParaRPr lang="en-US" sz="2200" dirty="0"/>
          </a:p>
          <a:p>
            <a:pPr marL="502920" indent="-342900">
              <a:buFont typeface="Arial" panose="020B0604020202020204" pitchFamily="34" charset="0"/>
              <a:buChar char="•"/>
            </a:pPr>
            <a:r>
              <a:rPr lang="en-US" sz="2200" dirty="0"/>
              <a:t>Emphasizing knowledge exchange and research relevance for all stakeholders</a:t>
            </a:r>
            <a:br>
              <a:rPr lang="en-US" sz="2200" dirty="0"/>
            </a:br>
            <a:endParaRPr lang="en-US" sz="2200" dirty="0"/>
          </a:p>
          <a:p>
            <a:pPr marL="502920" indent="-342900">
              <a:buFont typeface="Arial" panose="020B0604020202020204" pitchFamily="34" charset="0"/>
              <a:buChar char="•"/>
            </a:pPr>
            <a:r>
              <a:rPr lang="en-US" sz="2200" dirty="0"/>
              <a:t>Overall NR conflict management</a:t>
            </a:r>
          </a:p>
        </p:txBody>
      </p:sp>
      <p:pic>
        <p:nvPicPr>
          <p:cNvPr id="7" name="Content Placeholder 6" descr="A person wearing glasses and smiling at the camera&#10;&#10;Description automatically generated">
            <a:extLst>
              <a:ext uri="{FF2B5EF4-FFF2-40B4-BE49-F238E27FC236}">
                <a16:creationId xmlns:a16="http://schemas.microsoft.com/office/drawing/2014/main" id="{2971EC9A-F7BF-4207-9167-1FB610FE521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tretch/>
        </p:blipFill>
        <p:spPr>
          <a:xfrm>
            <a:off x="7832979" y="1691322"/>
            <a:ext cx="3304622" cy="3304622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122AC77F-020D-4387-9CAB-DCA9539652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0046" y="5391525"/>
            <a:ext cx="6374130" cy="141885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5331692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11">
            <a:extLst>
              <a:ext uri="{FF2B5EF4-FFF2-40B4-BE49-F238E27FC236}">
                <a16:creationId xmlns:a16="http://schemas.microsoft.com/office/drawing/2014/main" id="{ACA29952-149E-46F7-9A9D-E6101CFF55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292840" y="0"/>
            <a:ext cx="9144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13">
            <a:extLst>
              <a:ext uri="{FF2B5EF4-FFF2-40B4-BE49-F238E27FC236}">
                <a16:creationId xmlns:a16="http://schemas.microsoft.com/office/drawing/2014/main" id="{9024BA92-9229-4333-ACC7-4561A3DB5F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57200" cy="6858000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C5504FB6-98AC-42BF-BC46-9FA791F65E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61872" y="294198"/>
            <a:ext cx="9692640" cy="1105977"/>
          </a:xfrm>
        </p:spPr>
        <p:txBody>
          <a:bodyPr vert="horz" lIns="91440" tIns="27432" rIns="91440" bIns="45720" rtlCol="0" anchor="b">
            <a:normAutofit/>
          </a:bodyPr>
          <a:lstStyle/>
          <a:p>
            <a:r>
              <a:rPr lang="en-US" sz="4400" u="sng" dirty="0"/>
              <a:t>Jonathan Dain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3C9BAED-111C-4B3D-99D1-DFE19A1AD6D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261872" y="1828800"/>
            <a:ext cx="6415868" cy="4351337"/>
          </a:xfrm>
        </p:spPr>
        <p:txBody>
          <a:bodyPr vert="horz" lIns="91440" tIns="45720" rIns="91440" bIns="45720" rtlCol="0">
            <a:normAutofit/>
          </a:bodyPr>
          <a:lstStyle/>
          <a:p>
            <a:pPr marL="160020"/>
            <a:r>
              <a:rPr lang="en-US" sz="2400" dirty="0"/>
              <a:t>Courses:</a:t>
            </a:r>
          </a:p>
          <a:p>
            <a:pPr marL="502920" indent="-342900">
              <a:buFont typeface="Arial" panose="020B0604020202020204" pitchFamily="34" charset="0"/>
              <a:buChar char="•"/>
            </a:pPr>
            <a:r>
              <a:rPr lang="en-US" sz="2200" dirty="0"/>
              <a:t>LAS 6291	Communication and Leadership</a:t>
            </a:r>
          </a:p>
          <a:p>
            <a:pPr marL="502920" indent="-342900">
              <a:buFont typeface="Arial" panose="020B0604020202020204" pitchFamily="34" charset="0"/>
              <a:buChar char="•"/>
            </a:pPr>
            <a:r>
              <a:rPr lang="en-US" sz="2200" dirty="0"/>
              <a:t>LAS 6291	Facilitation Skills</a:t>
            </a:r>
          </a:p>
          <a:p>
            <a:pPr marL="502920" indent="-342900">
              <a:buFont typeface="Arial" panose="020B0604020202020204" pitchFamily="34" charset="0"/>
              <a:buChar char="•"/>
            </a:pPr>
            <a:r>
              <a:rPr lang="en-US" sz="2200" dirty="0"/>
              <a:t>LAS 6291	Conflict Management</a:t>
            </a:r>
          </a:p>
          <a:p>
            <a:pPr marL="502920" indent="-342900">
              <a:buFont typeface="Arial" panose="020B0604020202020204" pitchFamily="34" charset="0"/>
              <a:buChar char="•"/>
            </a:pPr>
            <a:r>
              <a:rPr lang="en-US" sz="2200" dirty="0"/>
              <a:t>LAS 6940	Tropical Conservation &amp; Development Practicum</a:t>
            </a:r>
          </a:p>
          <a:p>
            <a:pPr marL="502920" indent="-342900">
              <a:buFont typeface="Arial" panose="020B0604020202020204" pitchFamily="34" charset="0"/>
              <a:buChar char="•"/>
            </a:pPr>
            <a:r>
              <a:rPr lang="en-US" sz="2200" dirty="0"/>
              <a:t>LAS 6291	Impacting Conservation and Development Policy</a:t>
            </a:r>
          </a:p>
          <a:p>
            <a:pPr marL="160020"/>
            <a:endParaRPr lang="en-US" sz="2200" dirty="0"/>
          </a:p>
        </p:txBody>
      </p:sp>
      <p:pic>
        <p:nvPicPr>
          <p:cNvPr id="7" name="Content Placeholder 6" descr="A person wearing glasses and smiling at the camera&#10;&#10;Description automatically generated">
            <a:extLst>
              <a:ext uri="{FF2B5EF4-FFF2-40B4-BE49-F238E27FC236}">
                <a16:creationId xmlns:a16="http://schemas.microsoft.com/office/drawing/2014/main" id="{2971EC9A-F7BF-4207-9167-1FB610FE521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tretch/>
        </p:blipFill>
        <p:spPr>
          <a:xfrm>
            <a:off x="7832979" y="1691322"/>
            <a:ext cx="3304622" cy="3304622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F3D2C654-3FEC-4FD7-82C0-3377B918DC48}"/>
              </a:ext>
            </a:extLst>
          </p:cNvPr>
          <p:cNvSpPr txBox="1"/>
          <p:nvPr/>
        </p:nvSpPr>
        <p:spPr>
          <a:xfrm>
            <a:off x="8267700" y="5286375"/>
            <a:ext cx="24765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0" i="0" u="none" strike="noStrike" dirty="0">
                <a:solidFill>
                  <a:srgbClr val="243778"/>
                </a:solidFill>
                <a:effectLst/>
                <a:latin typeface="Arial" panose="020B0604020202020204" pitchFamily="34" charset="0"/>
                <a:hlinkClick r:id="rId3"/>
              </a:rPr>
              <a:t>jdain@ufl.edu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246628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11">
            <a:extLst>
              <a:ext uri="{FF2B5EF4-FFF2-40B4-BE49-F238E27FC236}">
                <a16:creationId xmlns:a16="http://schemas.microsoft.com/office/drawing/2014/main" id="{ACA29952-149E-46F7-9A9D-E6101CFF55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292840" y="0"/>
            <a:ext cx="9144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13">
            <a:extLst>
              <a:ext uri="{FF2B5EF4-FFF2-40B4-BE49-F238E27FC236}">
                <a16:creationId xmlns:a16="http://schemas.microsoft.com/office/drawing/2014/main" id="{9024BA92-9229-4333-ACC7-4561A3DB5F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57200" cy="6858000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C5504FB6-98AC-42BF-BC46-9FA791F65E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61872" y="294198"/>
            <a:ext cx="9692640" cy="1105977"/>
          </a:xfrm>
        </p:spPr>
        <p:txBody>
          <a:bodyPr vert="horz" lIns="91440" tIns="27432" rIns="91440" bIns="45720" rtlCol="0" anchor="b">
            <a:normAutofit/>
          </a:bodyPr>
          <a:lstStyle/>
          <a:p>
            <a:r>
              <a:rPr lang="en-US" sz="4400" u="sng" dirty="0"/>
              <a:t>Jiri </a:t>
            </a:r>
            <a:r>
              <a:rPr lang="en-US" sz="4400" u="sng" dirty="0" err="1"/>
              <a:t>Hulcr</a:t>
            </a:r>
            <a:endParaRPr lang="en-US" sz="4400" u="sng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3C9BAED-111C-4B3D-99D1-DFE19A1AD6D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261872" y="1828800"/>
            <a:ext cx="6415868" cy="4351337"/>
          </a:xfrm>
        </p:spPr>
        <p:txBody>
          <a:bodyPr vert="horz" lIns="91440" tIns="45720" rIns="91440" bIns="45720" rtlCol="0">
            <a:normAutofit/>
          </a:bodyPr>
          <a:lstStyle/>
          <a:p>
            <a:pPr marL="502920" indent="-342900">
              <a:buFont typeface="Arial" panose="020B0604020202020204" pitchFamily="34" charset="0"/>
              <a:buChar char="•"/>
            </a:pPr>
            <a:r>
              <a:rPr lang="en-US" sz="2200" dirty="0"/>
              <a:t>Forest entomologist in SFRC, focusing on bark beetles and ambrosia beetles</a:t>
            </a:r>
            <a:br>
              <a:rPr lang="en-US" sz="2200" dirty="0"/>
            </a:br>
            <a:endParaRPr lang="en-US" sz="2200" dirty="0"/>
          </a:p>
          <a:p>
            <a:pPr marL="502920" indent="-342900">
              <a:buFont typeface="Arial" panose="020B0604020202020204" pitchFamily="34" charset="0"/>
              <a:buChar char="•"/>
            </a:pPr>
            <a:r>
              <a:rPr lang="en-US" sz="2200" dirty="0"/>
              <a:t>Founding member of Emerging Threats to Forests research group</a:t>
            </a:r>
            <a:br>
              <a:rPr lang="en-US" sz="2200" dirty="0"/>
            </a:br>
            <a:endParaRPr lang="en-US" sz="2200" dirty="0"/>
          </a:p>
          <a:p>
            <a:pPr marL="502920" indent="-342900">
              <a:buFont typeface="Arial" panose="020B0604020202020204" pitchFamily="34" charset="0"/>
              <a:buChar char="•"/>
            </a:pPr>
            <a:r>
              <a:rPr lang="en-US" sz="2200" dirty="0"/>
              <a:t>Maintains cryo-preserved collection of ambrosia beetles and their symbionts</a:t>
            </a:r>
            <a:br>
              <a:rPr lang="en-US" sz="2200" dirty="0"/>
            </a:br>
            <a:endParaRPr lang="en-US" sz="2200" dirty="0"/>
          </a:p>
          <a:p>
            <a:pPr marL="502920" indent="-342900">
              <a:buFont typeface="Arial" panose="020B0604020202020204" pitchFamily="34" charset="0"/>
              <a:buChar char="•"/>
            </a:pPr>
            <a:r>
              <a:rPr lang="en-US" sz="2200" dirty="0"/>
              <a:t>Develops keys and resources for beetle ID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832B8D0-D753-4C3F-8768-61F7F15D91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61859" y="1690964"/>
            <a:ext cx="3304622" cy="33046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45124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11">
            <a:extLst>
              <a:ext uri="{FF2B5EF4-FFF2-40B4-BE49-F238E27FC236}">
                <a16:creationId xmlns:a16="http://schemas.microsoft.com/office/drawing/2014/main" id="{ACA29952-149E-46F7-9A9D-E6101CFF55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292840" y="0"/>
            <a:ext cx="9144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13">
            <a:extLst>
              <a:ext uri="{FF2B5EF4-FFF2-40B4-BE49-F238E27FC236}">
                <a16:creationId xmlns:a16="http://schemas.microsoft.com/office/drawing/2014/main" id="{9024BA92-9229-4333-ACC7-4561A3DB5F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57200" cy="6858000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C5504FB6-98AC-42BF-BC46-9FA791F65E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61872" y="294198"/>
            <a:ext cx="9692640" cy="1105977"/>
          </a:xfrm>
        </p:spPr>
        <p:txBody>
          <a:bodyPr vert="horz" lIns="91440" tIns="27432" rIns="91440" bIns="45720" rtlCol="0" anchor="b">
            <a:normAutofit/>
          </a:bodyPr>
          <a:lstStyle/>
          <a:p>
            <a:r>
              <a:rPr lang="en-US" sz="4400" u="sng" dirty="0"/>
              <a:t>Jiri </a:t>
            </a:r>
            <a:r>
              <a:rPr lang="en-US" sz="4400" u="sng" dirty="0" err="1"/>
              <a:t>Hulcr</a:t>
            </a:r>
            <a:endParaRPr lang="en-US" sz="4400" u="sng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3C9BAED-111C-4B3D-99D1-DFE19A1AD6D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261872" y="1828800"/>
            <a:ext cx="6415868" cy="4351337"/>
          </a:xfrm>
        </p:spPr>
        <p:txBody>
          <a:bodyPr vert="horz" lIns="91440" tIns="45720" rIns="91440" bIns="45720" rtlCol="0">
            <a:normAutofit/>
          </a:bodyPr>
          <a:lstStyle/>
          <a:p>
            <a:pPr marL="502920" indent="-342900">
              <a:buFont typeface="Arial" panose="020B0604020202020204" pitchFamily="34" charset="0"/>
              <a:buChar char="•"/>
            </a:pPr>
            <a:r>
              <a:rPr lang="en-US" sz="2400" dirty="0"/>
              <a:t>Research focuses on:</a:t>
            </a:r>
          </a:p>
          <a:p>
            <a:pPr marL="960120" lvl="1" indent="-342900">
              <a:buFont typeface="Arial" panose="020B0604020202020204" pitchFamily="34" charset="0"/>
              <a:buChar char="•"/>
            </a:pPr>
            <a:r>
              <a:rPr lang="en-US" sz="2000" dirty="0"/>
              <a:t>Evolutionary origins of ecological relationships between beetles and fungi</a:t>
            </a:r>
            <a:br>
              <a:rPr lang="en-US" sz="2000" dirty="0"/>
            </a:br>
            <a:endParaRPr lang="en-US" sz="2000" dirty="0"/>
          </a:p>
          <a:p>
            <a:pPr marL="960120" lvl="1" indent="-342900">
              <a:buFont typeface="Arial" panose="020B0604020202020204" pitchFamily="34" charset="0"/>
              <a:buChar char="•"/>
            </a:pPr>
            <a:r>
              <a:rPr lang="en-US" sz="2000" dirty="0"/>
              <a:t>Phylogeny of species</a:t>
            </a:r>
            <a:br>
              <a:rPr lang="en-US" sz="2000" dirty="0"/>
            </a:br>
            <a:endParaRPr lang="en-US" sz="2000" dirty="0"/>
          </a:p>
          <a:p>
            <a:pPr marL="960120" lvl="1" indent="-342900">
              <a:buFont typeface="Arial" panose="020B0604020202020204" pitchFamily="34" charset="0"/>
              <a:buChar char="•"/>
            </a:pPr>
            <a:r>
              <a:rPr lang="en-US" sz="2000" dirty="0"/>
              <a:t>Chemistry of fungal relationships</a:t>
            </a:r>
            <a:br>
              <a:rPr lang="en-US" sz="2000" dirty="0"/>
            </a:br>
            <a:endParaRPr lang="en-US" sz="2000" dirty="0"/>
          </a:p>
          <a:p>
            <a:pPr marL="960120" lvl="1" indent="-342900">
              <a:buFont typeface="Arial" panose="020B0604020202020204" pitchFamily="34" charset="0"/>
              <a:buChar char="•"/>
            </a:pPr>
            <a:r>
              <a:rPr lang="en-US" sz="2000" dirty="0"/>
              <a:t>Effects beetles have on forests and people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832B8D0-D753-4C3F-8768-61F7F15D91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61859" y="1690964"/>
            <a:ext cx="3304622" cy="3304622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A889F497-36FE-43D8-82D7-4CDE6B085B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3950" y="5400558"/>
            <a:ext cx="6415868" cy="1516355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41871358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11">
            <a:extLst>
              <a:ext uri="{FF2B5EF4-FFF2-40B4-BE49-F238E27FC236}">
                <a16:creationId xmlns:a16="http://schemas.microsoft.com/office/drawing/2014/main" id="{ACA29952-149E-46F7-9A9D-E6101CFF55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292840" y="0"/>
            <a:ext cx="9144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13">
            <a:extLst>
              <a:ext uri="{FF2B5EF4-FFF2-40B4-BE49-F238E27FC236}">
                <a16:creationId xmlns:a16="http://schemas.microsoft.com/office/drawing/2014/main" id="{9024BA92-9229-4333-ACC7-4561A3DB5F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57200" cy="6858000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C5504FB6-98AC-42BF-BC46-9FA791F65E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61872" y="294198"/>
            <a:ext cx="9692640" cy="1105977"/>
          </a:xfrm>
        </p:spPr>
        <p:txBody>
          <a:bodyPr vert="horz" lIns="91440" tIns="27432" rIns="91440" bIns="45720" rtlCol="0" anchor="b">
            <a:normAutofit/>
          </a:bodyPr>
          <a:lstStyle/>
          <a:p>
            <a:r>
              <a:rPr lang="en-US" sz="4400" u="sng" dirty="0"/>
              <a:t>Jiri </a:t>
            </a:r>
            <a:r>
              <a:rPr lang="en-US" sz="4400" u="sng" dirty="0" err="1"/>
              <a:t>Hulcr</a:t>
            </a:r>
            <a:endParaRPr lang="en-US" sz="4400" u="sng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3C9BAED-111C-4B3D-99D1-DFE19A1AD6D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261872" y="1828800"/>
            <a:ext cx="6415868" cy="4351337"/>
          </a:xfrm>
        </p:spPr>
        <p:txBody>
          <a:bodyPr vert="horz" lIns="91440" tIns="45720" rIns="91440" bIns="45720" rtlCol="0">
            <a:normAutofit/>
          </a:bodyPr>
          <a:lstStyle/>
          <a:p>
            <a:pPr marL="502920" indent="-342900">
              <a:buFont typeface="Arial" panose="020B0604020202020204" pitchFamily="34" charset="0"/>
              <a:buChar char="•"/>
            </a:pPr>
            <a:r>
              <a:rPr lang="en-US" sz="2400" dirty="0"/>
              <a:t>No courses as currently on sabbatical</a:t>
            </a:r>
            <a:r>
              <a:rPr lang="en-US" sz="2000" dirty="0"/>
              <a:t>, but reach out if interested in:</a:t>
            </a:r>
          </a:p>
          <a:p>
            <a:pPr marL="960120" lvl="1" indent="-342900">
              <a:buFont typeface="Arial" panose="020B0604020202020204" pitchFamily="34" charset="0"/>
              <a:buChar char="•"/>
            </a:pPr>
            <a:r>
              <a:rPr lang="en-US" sz="2200" dirty="0"/>
              <a:t>Forest entomology</a:t>
            </a:r>
          </a:p>
          <a:p>
            <a:pPr marL="960120" lvl="1" indent="-342900">
              <a:buFont typeface="Arial" panose="020B0604020202020204" pitchFamily="34" charset="0"/>
              <a:buChar char="•"/>
            </a:pPr>
            <a:r>
              <a:rPr lang="en-US" sz="2200" dirty="0"/>
              <a:t>Ambrosia beetle ecology</a:t>
            </a:r>
          </a:p>
          <a:p>
            <a:pPr marL="960120" lvl="1" indent="-342900">
              <a:buFont typeface="Arial" panose="020B0604020202020204" pitchFamily="34" charset="0"/>
              <a:buChar char="•"/>
            </a:pPr>
            <a:endParaRPr lang="en-US" sz="22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832B8D0-D753-4C3F-8768-61F7F15D91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61859" y="1690964"/>
            <a:ext cx="3304622" cy="3304622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72E131C3-DEFF-4E9C-8D5C-029AE6F6DE83}"/>
              </a:ext>
            </a:extLst>
          </p:cNvPr>
          <p:cNvSpPr txBox="1"/>
          <p:nvPr/>
        </p:nvSpPr>
        <p:spPr>
          <a:xfrm>
            <a:off x="8181975" y="5276850"/>
            <a:ext cx="23717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0" i="0" u="sng" dirty="0">
                <a:solidFill>
                  <a:srgbClr val="243778"/>
                </a:solidFill>
                <a:effectLst/>
                <a:latin typeface="Arial" panose="020B0604020202020204" pitchFamily="34" charset="0"/>
                <a:hlinkClick r:id="rId3"/>
              </a:rPr>
              <a:t>hulcr@ufl.edu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697987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11">
            <a:extLst>
              <a:ext uri="{FF2B5EF4-FFF2-40B4-BE49-F238E27FC236}">
                <a16:creationId xmlns:a16="http://schemas.microsoft.com/office/drawing/2014/main" id="{ACA29952-149E-46F7-9A9D-E6101CFF55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292840" y="0"/>
            <a:ext cx="9144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13">
            <a:extLst>
              <a:ext uri="{FF2B5EF4-FFF2-40B4-BE49-F238E27FC236}">
                <a16:creationId xmlns:a16="http://schemas.microsoft.com/office/drawing/2014/main" id="{9024BA92-9229-4333-ACC7-4561A3DB5F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57200" cy="6858000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C5504FB6-98AC-42BF-BC46-9FA791F65E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61872" y="294198"/>
            <a:ext cx="9692640" cy="1105977"/>
          </a:xfrm>
        </p:spPr>
        <p:txBody>
          <a:bodyPr vert="horz" lIns="91440" tIns="27432" rIns="91440" bIns="45720" rtlCol="0" anchor="b">
            <a:normAutofit/>
          </a:bodyPr>
          <a:lstStyle/>
          <a:p>
            <a:r>
              <a:rPr lang="en-US" sz="4400" u="sng" dirty="0"/>
              <a:t>Dan Johnson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3C9BAED-111C-4B3D-99D1-DFE19A1AD6D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261872" y="1828800"/>
            <a:ext cx="6415868" cy="4351337"/>
          </a:xfrm>
        </p:spPr>
        <p:txBody>
          <a:bodyPr vert="horz" lIns="91440" tIns="45720" rIns="91440" bIns="45720" rtlCol="0">
            <a:normAutofit/>
          </a:bodyPr>
          <a:lstStyle/>
          <a:p>
            <a:pPr marL="502920" indent="-342900">
              <a:buFont typeface="Arial" panose="020B0604020202020204" pitchFamily="34" charset="0"/>
              <a:buChar char="•"/>
            </a:pPr>
            <a:r>
              <a:rPr lang="en-US" sz="2400" dirty="0"/>
              <a:t>Leads the Global Forest Dynamics Lab</a:t>
            </a:r>
            <a:br>
              <a:rPr lang="en-US" sz="2400" dirty="0"/>
            </a:br>
            <a:endParaRPr lang="en-US" sz="2400" dirty="0"/>
          </a:p>
          <a:p>
            <a:pPr marL="502920" indent="-342900">
              <a:buFont typeface="Arial" panose="020B0604020202020204" pitchFamily="34" charset="0"/>
              <a:buChar char="•"/>
            </a:pPr>
            <a:r>
              <a:rPr lang="en-US" sz="2400" dirty="0"/>
              <a:t>Silviculture specialist</a:t>
            </a:r>
            <a:br>
              <a:rPr lang="en-US" sz="2400" dirty="0"/>
            </a:br>
            <a:endParaRPr lang="en-US" sz="2400" dirty="0"/>
          </a:p>
          <a:p>
            <a:pPr marL="502920" indent="-342900">
              <a:buFont typeface="Arial" panose="020B0604020202020204" pitchFamily="34" charset="0"/>
              <a:buChar char="•"/>
            </a:pPr>
            <a:r>
              <a:rPr lang="en-US" sz="2400" dirty="0"/>
              <a:t>Advises students on career paths and serves as a research supervisor</a:t>
            </a: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8366B353-C7DB-4C3A-BCD2-2E803C5FE2E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77740" y="2033587"/>
            <a:ext cx="3827780" cy="2609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3839519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11">
            <a:extLst>
              <a:ext uri="{FF2B5EF4-FFF2-40B4-BE49-F238E27FC236}">
                <a16:creationId xmlns:a16="http://schemas.microsoft.com/office/drawing/2014/main" id="{ACA29952-149E-46F7-9A9D-E6101CFF55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292840" y="0"/>
            <a:ext cx="9144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13">
            <a:extLst>
              <a:ext uri="{FF2B5EF4-FFF2-40B4-BE49-F238E27FC236}">
                <a16:creationId xmlns:a16="http://schemas.microsoft.com/office/drawing/2014/main" id="{9024BA92-9229-4333-ACC7-4561A3DB5F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57200" cy="6858000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C5504FB6-98AC-42BF-BC46-9FA791F65E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61872" y="294198"/>
            <a:ext cx="9692640" cy="1105977"/>
          </a:xfrm>
        </p:spPr>
        <p:txBody>
          <a:bodyPr vert="horz" lIns="91440" tIns="27432" rIns="91440" bIns="45720" rtlCol="0" anchor="b">
            <a:normAutofit/>
          </a:bodyPr>
          <a:lstStyle/>
          <a:p>
            <a:r>
              <a:rPr lang="en-US" sz="4400" u="sng" dirty="0"/>
              <a:t>Dan Johnson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3C9BAED-111C-4B3D-99D1-DFE19A1AD6D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261872" y="1828800"/>
            <a:ext cx="6415868" cy="4351337"/>
          </a:xfrm>
        </p:spPr>
        <p:txBody>
          <a:bodyPr vert="horz" lIns="91440" tIns="45720" rIns="91440" bIns="45720" rtlCol="0">
            <a:normAutofit/>
          </a:bodyPr>
          <a:lstStyle/>
          <a:p>
            <a:pPr marL="502920" indent="-342900">
              <a:buFont typeface="Arial" panose="020B0604020202020204" pitchFamily="34" charset="0"/>
              <a:buChar char="•"/>
            </a:pPr>
            <a:r>
              <a:rPr lang="en-US" sz="2400" dirty="0"/>
              <a:t>Research focuses on:</a:t>
            </a:r>
          </a:p>
          <a:p>
            <a:pPr marL="960120" lvl="1" indent="-342900">
              <a:buFont typeface="Arial" panose="020B0604020202020204" pitchFamily="34" charset="0"/>
              <a:buChar char="•"/>
            </a:pPr>
            <a:r>
              <a:rPr lang="en-US" sz="2200" dirty="0"/>
              <a:t>How forests respond to change</a:t>
            </a:r>
            <a:br>
              <a:rPr lang="en-US" sz="2200" dirty="0"/>
            </a:br>
            <a:endParaRPr lang="en-US" sz="2200" dirty="0"/>
          </a:p>
          <a:p>
            <a:pPr marL="960120" lvl="1" indent="-342900">
              <a:buFont typeface="Arial" panose="020B0604020202020204" pitchFamily="34" charset="0"/>
              <a:buChar char="•"/>
            </a:pPr>
            <a:r>
              <a:rPr lang="en-US" sz="2200" dirty="0"/>
              <a:t>Forest regeneration, health, and production</a:t>
            </a:r>
            <a:br>
              <a:rPr lang="en-US" sz="2200" dirty="0"/>
            </a:br>
            <a:endParaRPr lang="en-US" sz="2200" dirty="0"/>
          </a:p>
          <a:p>
            <a:pPr marL="960120" lvl="1" indent="-342900">
              <a:buFont typeface="Arial" panose="020B0604020202020204" pitchFamily="34" charset="0"/>
              <a:buChar char="•"/>
            </a:pPr>
            <a:r>
              <a:rPr lang="en-US" sz="2200" dirty="0"/>
              <a:t>Using data to analyze forests spatially and temporally</a:t>
            </a: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8366B353-C7DB-4C3A-BCD2-2E803C5FE2E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77740" y="2033587"/>
            <a:ext cx="3827780" cy="2609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5D3978A-708D-4227-A447-8D7F4391BC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0150" y="5249108"/>
            <a:ext cx="6315075" cy="1664772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326710626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11">
            <a:extLst>
              <a:ext uri="{FF2B5EF4-FFF2-40B4-BE49-F238E27FC236}">
                <a16:creationId xmlns:a16="http://schemas.microsoft.com/office/drawing/2014/main" id="{ACA29952-149E-46F7-9A9D-E6101CFF55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292840" y="0"/>
            <a:ext cx="9144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13">
            <a:extLst>
              <a:ext uri="{FF2B5EF4-FFF2-40B4-BE49-F238E27FC236}">
                <a16:creationId xmlns:a16="http://schemas.microsoft.com/office/drawing/2014/main" id="{9024BA92-9229-4333-ACC7-4561A3DB5F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57200" cy="6858000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C5504FB6-98AC-42BF-BC46-9FA791F65E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61872" y="294198"/>
            <a:ext cx="9692640" cy="1105977"/>
          </a:xfrm>
        </p:spPr>
        <p:txBody>
          <a:bodyPr vert="horz" lIns="91440" tIns="27432" rIns="91440" bIns="45720" rtlCol="0" anchor="b">
            <a:normAutofit/>
          </a:bodyPr>
          <a:lstStyle/>
          <a:p>
            <a:r>
              <a:rPr lang="en-US" sz="4400" u="sng" dirty="0"/>
              <a:t>Dan Johnson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3C9BAED-111C-4B3D-99D1-DFE19A1AD6D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261872" y="1828800"/>
            <a:ext cx="6415868" cy="4351337"/>
          </a:xfrm>
        </p:spPr>
        <p:txBody>
          <a:bodyPr vert="horz" lIns="91440" tIns="45720" rIns="91440" bIns="45720" rtlCol="0">
            <a:normAutofit/>
          </a:bodyPr>
          <a:lstStyle/>
          <a:p>
            <a:pPr marL="502920" indent="-342900">
              <a:buFont typeface="Arial" panose="020B0604020202020204" pitchFamily="34" charset="0"/>
              <a:buChar char="•"/>
            </a:pPr>
            <a:r>
              <a:rPr lang="en-US" sz="2400" dirty="0"/>
              <a:t>In the past has taught courses on:</a:t>
            </a:r>
            <a:br>
              <a:rPr lang="en-US" sz="2000" dirty="0"/>
            </a:br>
            <a:endParaRPr lang="en-US" sz="2000" dirty="0"/>
          </a:p>
          <a:p>
            <a:pPr marL="960120" lvl="1" indent="-342900">
              <a:buFont typeface="Arial" panose="020B0604020202020204" pitchFamily="34" charset="0"/>
              <a:buChar char="•"/>
            </a:pPr>
            <a:r>
              <a:rPr lang="en-US" sz="2200" dirty="0"/>
              <a:t>Field Ecology</a:t>
            </a:r>
            <a:br>
              <a:rPr lang="en-US" sz="2200" dirty="0"/>
            </a:br>
            <a:endParaRPr lang="en-US" sz="2200" dirty="0"/>
          </a:p>
          <a:p>
            <a:pPr marL="960120" lvl="1" indent="-342900">
              <a:buFont typeface="Arial" panose="020B0604020202020204" pitchFamily="34" charset="0"/>
              <a:buChar char="•"/>
            </a:pPr>
            <a:r>
              <a:rPr lang="en-US" sz="2200" dirty="0"/>
              <a:t>Forest Ecology and Management</a:t>
            </a: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8366B353-C7DB-4C3A-BCD2-2E803C5FE2E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77740" y="2033587"/>
            <a:ext cx="3827780" cy="2609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08D6C7B6-F7FA-4828-BCD8-5DFDD66E7D9E}"/>
              </a:ext>
            </a:extLst>
          </p:cNvPr>
          <p:cNvSpPr txBox="1"/>
          <p:nvPr/>
        </p:nvSpPr>
        <p:spPr>
          <a:xfrm>
            <a:off x="8001000" y="4838700"/>
            <a:ext cx="2819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0" i="0" u="none" strike="noStrike" dirty="0">
                <a:solidFill>
                  <a:srgbClr val="243778"/>
                </a:solidFill>
                <a:effectLst/>
                <a:latin typeface="Arial" panose="020B0604020202020204" pitchFamily="34" charset="0"/>
                <a:hlinkClick r:id="rId3"/>
              </a:rPr>
              <a:t>Johnson.daniel@ufl.edu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4733616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11">
            <a:extLst>
              <a:ext uri="{FF2B5EF4-FFF2-40B4-BE49-F238E27FC236}">
                <a16:creationId xmlns:a16="http://schemas.microsoft.com/office/drawing/2014/main" id="{ACA29952-149E-46F7-9A9D-E6101CFF55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292840" y="0"/>
            <a:ext cx="9144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13">
            <a:extLst>
              <a:ext uri="{FF2B5EF4-FFF2-40B4-BE49-F238E27FC236}">
                <a16:creationId xmlns:a16="http://schemas.microsoft.com/office/drawing/2014/main" id="{9024BA92-9229-4333-ACC7-4561A3DB5F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57200" cy="6858000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C5504FB6-98AC-42BF-BC46-9FA791F65E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61872" y="294198"/>
            <a:ext cx="9692640" cy="1105977"/>
          </a:xfrm>
        </p:spPr>
        <p:txBody>
          <a:bodyPr vert="horz" lIns="91440" tIns="27432" rIns="91440" bIns="45720" rtlCol="0" anchor="b">
            <a:normAutofit/>
          </a:bodyPr>
          <a:lstStyle/>
          <a:p>
            <a:r>
              <a:rPr lang="en-US" sz="4400" u="sng" dirty="0"/>
              <a:t>Geraldine </a:t>
            </a:r>
            <a:r>
              <a:rPr lang="en-US" sz="4400" u="sng" dirty="0" err="1"/>
              <a:t>Klarenberg</a:t>
            </a:r>
            <a:endParaRPr lang="en-US" sz="4400" u="sng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3C9BAED-111C-4B3D-99D1-DFE19A1AD6D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261872" y="1828800"/>
            <a:ext cx="6415868" cy="4351337"/>
          </a:xfrm>
        </p:spPr>
        <p:txBody>
          <a:bodyPr vert="horz" lIns="91440" tIns="45720" rIns="91440" bIns="45720" rtlCol="0">
            <a:normAutofit/>
          </a:bodyPr>
          <a:lstStyle/>
          <a:p>
            <a:pPr marL="502920" indent="-342900">
              <a:buFont typeface="Arial" panose="020B0604020202020204" pitchFamily="34" charset="0"/>
              <a:buChar char="•"/>
            </a:pPr>
            <a:r>
              <a:rPr lang="en-US" sz="2400" dirty="0"/>
              <a:t>Background in data science and systems modelling</a:t>
            </a:r>
            <a:br>
              <a:rPr lang="en-US" sz="2400" dirty="0"/>
            </a:br>
            <a:endParaRPr lang="en-US" sz="2400" dirty="0"/>
          </a:p>
          <a:p>
            <a:pPr marL="502920" indent="-342900">
              <a:buFont typeface="Arial" panose="020B0604020202020204" pitchFamily="34" charset="0"/>
              <a:buChar char="•"/>
            </a:pPr>
            <a:r>
              <a:rPr lang="en-US" sz="2400" dirty="0"/>
              <a:t>Also has experience in resource management, particularly water issues</a:t>
            </a:r>
            <a:br>
              <a:rPr lang="en-US" sz="2400" dirty="0"/>
            </a:br>
            <a:endParaRPr lang="en-US" sz="2400" dirty="0"/>
          </a:p>
          <a:p>
            <a:pPr marL="502920" indent="-342900">
              <a:buFont typeface="Arial" panose="020B0604020202020204" pitchFamily="34" charset="0"/>
              <a:buChar char="•"/>
            </a:pPr>
            <a:r>
              <a:rPr lang="en-US" sz="2400" dirty="0"/>
              <a:t>Aims to help students and researchers with managing and analyzing datasets</a:t>
            </a:r>
          </a:p>
        </p:txBody>
      </p:sp>
      <p:pic>
        <p:nvPicPr>
          <p:cNvPr id="4100" name="Picture 4">
            <a:extLst>
              <a:ext uri="{FF2B5EF4-FFF2-40B4-BE49-F238E27FC236}">
                <a16:creationId xmlns:a16="http://schemas.microsoft.com/office/drawing/2014/main" id="{A935CF4C-8534-4063-A7D5-6D2C21467CC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68512" y="1828800"/>
            <a:ext cx="2455164" cy="30689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0584571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11">
            <a:extLst>
              <a:ext uri="{FF2B5EF4-FFF2-40B4-BE49-F238E27FC236}">
                <a16:creationId xmlns:a16="http://schemas.microsoft.com/office/drawing/2014/main" id="{ACA29952-149E-46F7-9A9D-E6101CFF55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292840" y="0"/>
            <a:ext cx="9144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13">
            <a:extLst>
              <a:ext uri="{FF2B5EF4-FFF2-40B4-BE49-F238E27FC236}">
                <a16:creationId xmlns:a16="http://schemas.microsoft.com/office/drawing/2014/main" id="{9024BA92-9229-4333-ACC7-4561A3DB5F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57200" cy="6858000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C5504FB6-98AC-42BF-BC46-9FA791F65E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61872" y="294198"/>
            <a:ext cx="9692640" cy="1105977"/>
          </a:xfrm>
        </p:spPr>
        <p:txBody>
          <a:bodyPr vert="horz" lIns="91440" tIns="27432" rIns="91440" bIns="45720" rtlCol="0" anchor="b">
            <a:normAutofit/>
          </a:bodyPr>
          <a:lstStyle/>
          <a:p>
            <a:r>
              <a:rPr lang="en-US" sz="4400" u="sng" dirty="0"/>
              <a:t>Geraldine </a:t>
            </a:r>
            <a:r>
              <a:rPr lang="en-US" sz="4400" u="sng" dirty="0" err="1"/>
              <a:t>Klarenberg</a:t>
            </a:r>
            <a:endParaRPr lang="en-US" sz="4400" u="sng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3C9BAED-111C-4B3D-99D1-DFE19A1AD6D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261872" y="1828800"/>
            <a:ext cx="6415868" cy="4351337"/>
          </a:xfrm>
        </p:spPr>
        <p:txBody>
          <a:bodyPr vert="horz" lIns="91440" tIns="45720" rIns="91440" bIns="45720" rtlCol="0">
            <a:normAutofit/>
          </a:bodyPr>
          <a:lstStyle/>
          <a:p>
            <a:pPr marL="502920" indent="-342900">
              <a:buFont typeface="Arial" panose="020B0604020202020204" pitchFamily="34" charset="0"/>
              <a:buChar char="•"/>
            </a:pPr>
            <a:r>
              <a:rPr lang="en-US" sz="2400" dirty="0"/>
              <a:t>Research interests include:</a:t>
            </a:r>
          </a:p>
          <a:p>
            <a:pPr marL="960120" lvl="1" indent="-342900">
              <a:buFont typeface="Arial" panose="020B0604020202020204" pitchFamily="34" charset="0"/>
              <a:buChar char="•"/>
            </a:pPr>
            <a:r>
              <a:rPr lang="en-US" sz="2200" dirty="0"/>
              <a:t>Time series analysis</a:t>
            </a:r>
          </a:p>
          <a:p>
            <a:pPr marL="960120" lvl="1" indent="-342900">
              <a:buFont typeface="Arial" panose="020B0604020202020204" pitchFamily="34" charset="0"/>
              <a:buChar char="•"/>
            </a:pPr>
            <a:r>
              <a:rPr lang="en-US" sz="2200" dirty="0"/>
              <a:t>Causality mechanisms</a:t>
            </a:r>
          </a:p>
          <a:p>
            <a:pPr marL="960120" lvl="1" indent="-342900">
              <a:buFont typeface="Arial" panose="020B0604020202020204" pitchFamily="34" charset="0"/>
              <a:buChar char="•"/>
            </a:pPr>
            <a:r>
              <a:rPr lang="en-US" sz="2200" dirty="0"/>
              <a:t>Ecosystem services</a:t>
            </a:r>
          </a:p>
          <a:p>
            <a:pPr marL="960120" lvl="1" indent="-342900">
              <a:buFont typeface="Arial" panose="020B0604020202020204" pitchFamily="34" charset="0"/>
              <a:buChar char="•"/>
            </a:pPr>
            <a:r>
              <a:rPr lang="en-US" sz="2200" dirty="0"/>
              <a:t>Alternative stable states in systems</a:t>
            </a:r>
          </a:p>
          <a:p>
            <a:pPr marL="502920" indent="-342900">
              <a:buFont typeface="Arial" panose="020B0604020202020204" pitchFamily="34" charset="0"/>
              <a:buChar char="•"/>
            </a:pPr>
            <a:r>
              <a:rPr lang="en-US" sz="2400" dirty="0"/>
              <a:t>Past projects:</a:t>
            </a:r>
          </a:p>
          <a:p>
            <a:pPr marL="960120" lvl="1" indent="-342900">
              <a:buFont typeface="Arial" panose="020B0604020202020204" pitchFamily="34" charset="0"/>
              <a:buChar char="•"/>
            </a:pPr>
            <a:r>
              <a:rPr lang="en-US" sz="2200" dirty="0"/>
              <a:t>Invasive species effects on ectoparasite populations (ticks)</a:t>
            </a:r>
          </a:p>
          <a:p>
            <a:pPr marL="960120" lvl="1" indent="-342900">
              <a:buFont typeface="Arial" panose="020B0604020202020204" pitchFamily="34" charset="0"/>
              <a:buChar char="•"/>
            </a:pPr>
            <a:r>
              <a:rPr lang="en-US" sz="2200" dirty="0"/>
              <a:t>Developing bonefish population models</a:t>
            </a:r>
          </a:p>
          <a:p>
            <a:pPr marL="960120" lvl="1" indent="-342900">
              <a:buFont typeface="Arial" panose="020B0604020202020204" pitchFamily="34" charset="0"/>
              <a:buChar char="•"/>
            </a:pPr>
            <a:endParaRPr lang="en-US" sz="2200" dirty="0"/>
          </a:p>
        </p:txBody>
      </p:sp>
      <p:pic>
        <p:nvPicPr>
          <p:cNvPr id="4100" name="Picture 4">
            <a:extLst>
              <a:ext uri="{FF2B5EF4-FFF2-40B4-BE49-F238E27FC236}">
                <a16:creationId xmlns:a16="http://schemas.microsoft.com/office/drawing/2014/main" id="{A935CF4C-8534-4063-A7D5-6D2C21467CC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68512" y="1828800"/>
            <a:ext cx="2455164" cy="30689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C9351D78-D75F-4D7A-8174-BA73798B4C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61872" y="5590822"/>
            <a:ext cx="7058596" cy="1368777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290165531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11">
            <a:extLst>
              <a:ext uri="{FF2B5EF4-FFF2-40B4-BE49-F238E27FC236}">
                <a16:creationId xmlns:a16="http://schemas.microsoft.com/office/drawing/2014/main" id="{ACA29952-149E-46F7-9A9D-E6101CFF55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292840" y="0"/>
            <a:ext cx="9144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13">
            <a:extLst>
              <a:ext uri="{FF2B5EF4-FFF2-40B4-BE49-F238E27FC236}">
                <a16:creationId xmlns:a16="http://schemas.microsoft.com/office/drawing/2014/main" id="{9024BA92-9229-4333-ACC7-4561A3DB5F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57200" cy="6858000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C5504FB6-98AC-42BF-BC46-9FA791F65E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61872" y="294198"/>
            <a:ext cx="9692640" cy="1105977"/>
          </a:xfrm>
        </p:spPr>
        <p:txBody>
          <a:bodyPr vert="horz" lIns="91440" tIns="27432" rIns="91440" bIns="45720" rtlCol="0" anchor="b">
            <a:normAutofit/>
          </a:bodyPr>
          <a:lstStyle/>
          <a:p>
            <a:r>
              <a:rPr lang="en-US" sz="4400" u="sng" dirty="0"/>
              <a:t>Geraldine </a:t>
            </a:r>
            <a:r>
              <a:rPr lang="en-US" sz="4400" u="sng" dirty="0" err="1"/>
              <a:t>Klarenberg</a:t>
            </a:r>
            <a:endParaRPr lang="en-US" sz="4400" u="sng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3C9BAED-111C-4B3D-99D1-DFE19A1AD6D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261872" y="1828800"/>
            <a:ext cx="6415868" cy="4351337"/>
          </a:xfrm>
        </p:spPr>
        <p:txBody>
          <a:bodyPr vert="horz" lIns="91440" tIns="45720" rIns="91440" bIns="45720" rtlCol="0">
            <a:normAutofit/>
          </a:bodyPr>
          <a:lstStyle/>
          <a:p>
            <a:pPr marL="502920" indent="-342900">
              <a:buFont typeface="Arial" panose="020B0604020202020204" pitchFamily="34" charset="0"/>
              <a:buChar char="•"/>
            </a:pPr>
            <a:r>
              <a:rPr lang="en-US" sz="2400" dirty="0"/>
              <a:t>Courses being developed focus on:</a:t>
            </a:r>
            <a:br>
              <a:rPr lang="en-US" sz="2400" dirty="0"/>
            </a:br>
            <a:endParaRPr lang="en-US" sz="2400" dirty="0"/>
          </a:p>
          <a:p>
            <a:pPr marL="960120" lvl="1" indent="-342900">
              <a:buFont typeface="Arial" panose="020B0604020202020204" pitchFamily="34" charset="0"/>
              <a:buChar char="•"/>
            </a:pPr>
            <a:r>
              <a:rPr lang="en-US" sz="2200" dirty="0"/>
              <a:t>Coding, data management, reproducibility</a:t>
            </a:r>
            <a:br>
              <a:rPr lang="en-US" sz="2200" dirty="0"/>
            </a:br>
            <a:endParaRPr lang="en-US" sz="2200" dirty="0"/>
          </a:p>
          <a:p>
            <a:pPr marL="960120" lvl="1" indent="-342900">
              <a:buFont typeface="Arial" panose="020B0604020202020204" pitchFamily="34" charset="0"/>
              <a:buChar char="•"/>
            </a:pPr>
            <a:r>
              <a:rPr lang="en-US" sz="2200" dirty="0"/>
              <a:t>Data visualization, data preparation, exploratory data analysis techniques</a:t>
            </a:r>
            <a:br>
              <a:rPr lang="en-US" sz="2200" dirty="0"/>
            </a:br>
            <a:endParaRPr lang="en-US" sz="2200" dirty="0"/>
          </a:p>
          <a:p>
            <a:pPr marL="960120" lvl="1" indent="-342900">
              <a:buFont typeface="Arial" panose="020B0604020202020204" pitchFamily="34" charset="0"/>
              <a:buChar char="•"/>
            </a:pPr>
            <a:r>
              <a:rPr lang="en-US" sz="2200" dirty="0"/>
              <a:t>Potentially numerical ecology and machine learning</a:t>
            </a:r>
          </a:p>
        </p:txBody>
      </p:sp>
      <p:pic>
        <p:nvPicPr>
          <p:cNvPr id="4100" name="Picture 4">
            <a:extLst>
              <a:ext uri="{FF2B5EF4-FFF2-40B4-BE49-F238E27FC236}">
                <a16:creationId xmlns:a16="http://schemas.microsoft.com/office/drawing/2014/main" id="{A935CF4C-8534-4063-A7D5-6D2C21467CC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68512" y="1828800"/>
            <a:ext cx="2455164" cy="30689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D51615AB-27DC-4294-80A9-5C35D305374E}"/>
              </a:ext>
            </a:extLst>
          </p:cNvPr>
          <p:cNvSpPr txBox="1"/>
          <p:nvPr/>
        </p:nvSpPr>
        <p:spPr>
          <a:xfrm>
            <a:off x="8668512" y="5229225"/>
            <a:ext cx="24551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0" i="0" u="none" strike="noStrike" dirty="0">
                <a:solidFill>
                  <a:srgbClr val="243778"/>
                </a:solidFill>
                <a:effectLst/>
                <a:latin typeface="Arial" panose="020B0604020202020204" pitchFamily="34" charset="0"/>
                <a:hlinkClick r:id="rId3"/>
              </a:rPr>
              <a:t>gklarenberg@ufl.edu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96229791"/>
      </p:ext>
    </p:extLst>
  </p:cSld>
  <p:clrMapOvr>
    <a:masterClrMapping/>
  </p:clrMapOvr>
</p:sld>
</file>

<file path=ppt/theme/theme1.xml><?xml version="1.0" encoding="utf-8"?>
<a:theme xmlns:a="http://schemas.openxmlformats.org/drawingml/2006/main" name="View">
  <a:themeElements>
    <a:clrScheme name="View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View">
      <a:majorFont>
        <a:latin typeface="Century Schoolbook" panose="0204060405050502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Schoolbook" panose="0204060405050502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View">
      <a:fillStyleLst>
        <a:solidFill>
          <a:schemeClr val="phClr"/>
        </a:solidFill>
        <a:solidFill>
          <a:schemeClr val="phClr">
            <a:tint val="60000"/>
            <a:satMod val="120000"/>
          </a:schemeClr>
        </a:solidFill>
        <a:solidFill>
          <a:schemeClr val="phClr">
            <a:shade val="75000"/>
            <a:satMod val="13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3970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95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5240" dir="5400000" algn="tl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9525" prstMaterial="flat">
            <a:bevelT w="0" h="0" prst="coolSlant"/>
            <a:contourClr>
              <a:schemeClr val="phClr">
                <a:shade val="35000"/>
                <a:satMod val="130000"/>
              </a:schemeClr>
            </a:contourClr>
          </a:sp3d>
        </a:effectStyle>
        <a:effectStyle>
          <a:effectLst>
            <a:outerShdw blurRad="76200" dist="25400" dir="5400000" algn="tl" rotWithShape="0">
              <a:srgbClr val="000000">
                <a:alpha val="5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19050" prstMaterial="flat">
            <a:bevelT w="0" h="0" prst="coolSlant"/>
            <a:contourClr>
              <a:schemeClr val="phClr">
                <a:shade val="25000"/>
                <a:satMod val="14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4000"/>
                <a:shade val="98000"/>
                <a:satMod val="130000"/>
                <a:lumMod val="102000"/>
              </a:schemeClr>
            </a:gs>
            <a:gs pos="100000">
              <a:schemeClr val="phClr">
                <a:tint val="98000"/>
                <a:shade val="78000"/>
                <a:satMod val="140000"/>
              </a:schemeClr>
            </a:gs>
          </a:gsLst>
          <a:path path="circle">
            <a:fillToRect l="100000" t="10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iew" id="{BA0EB5A6-F2D4-4F82-977B-64ADEE4A2A69}" vid="{7B713C7F-58B7-4AE9-B361-B13EB9EC4C0C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112</TotalTime>
  <Words>371</Words>
  <Application>Microsoft Office PowerPoint</Application>
  <PresentationFormat>Widescreen</PresentationFormat>
  <Paragraphs>66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Century Schoolbook</vt:lpstr>
      <vt:lpstr>Wingdings 2</vt:lpstr>
      <vt:lpstr>View</vt:lpstr>
      <vt:lpstr>Jonathan Dain</vt:lpstr>
      <vt:lpstr>Jonathan Dain</vt:lpstr>
      <vt:lpstr>Jonathan Dain</vt:lpstr>
      <vt:lpstr>Jiri Hulcr</vt:lpstr>
      <vt:lpstr>Jiri Hulcr</vt:lpstr>
      <vt:lpstr>Jiri Hulcr</vt:lpstr>
      <vt:lpstr>Dan Johnson</vt:lpstr>
      <vt:lpstr>Dan Johnson</vt:lpstr>
      <vt:lpstr>Dan Johnson</vt:lpstr>
      <vt:lpstr>Geraldine Klarenberg</vt:lpstr>
      <vt:lpstr>Geraldine Klarenberg</vt:lpstr>
      <vt:lpstr>Geraldine Klarenberg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Jonathan Dain</dc:title>
  <dc:creator>LeMay, Gabriel</dc:creator>
  <cp:lastModifiedBy>LeMay, Gabriel</cp:lastModifiedBy>
  <cp:revision>11</cp:revision>
  <dcterms:created xsi:type="dcterms:W3CDTF">2020-10-07T15:23:48Z</dcterms:created>
  <dcterms:modified xsi:type="dcterms:W3CDTF">2020-10-07T17:16:22Z</dcterms:modified>
</cp:coreProperties>
</file>